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4688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C9BE8"/>
                </a:solidFill>
                <a:latin typeface="Calibri"/>
              </a:rPr>
              <a:t>MSc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Two-Step Unsupervised Domain Adaptation
for Semantic Segmentation Under Adverse Weather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C9BE8"/>
                </a:solidFill>
                <a:latin typeface="Calibri"/>
              </a:rPr>
              <a:t>SegFormer-B2  ·  Mean Teacher  ·  GTA5 → Cityscapes → ACDC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Gal Hanuna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C9BE8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9BE8"/>
                </a:solidFill>
                <a:latin typeface="Calibri"/>
              </a:rPr>
              <a:t>Why adverse-weather UDA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4F8A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Models trained on clean/synthetic data fail under fog, rain, snow, and night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Collecting labeled data for every condition and city is prohibitively expensive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Deployment in new regions or weather requires re-annotation — not scalable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20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4F8A"/>
                </a:solidFill>
                <a:latin typeface="Calibr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86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Large synthetic datasets (GTA5) are free to generate at scale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Real clean-weather data (Cityscapes) is already labeled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UDA transfers knowledge without any target-domain annotations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097280"/>
            <a:ext cx="4206240" cy="4937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4F8A"/>
                </a:solidFill>
                <a:latin typeface="Calibri"/>
              </a:rPr>
              <a:t>Domain Shift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640"/>
            <a:ext cx="347472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6916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GTA5
(Synthetic, clean)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4688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C9BE8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788920"/>
            <a:ext cx="347472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7889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Cityscapes
(Real, clean)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5661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C9BE8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886200"/>
            <a:ext cx="347472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8862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ACDC
(Real, adverse)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Question &amp; Two-Step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A4F8A"/>
                </a:solidFill>
                <a:latin typeface="Calibri"/>
              </a:rPr>
              <a:t>"Does a second adaptation step from Cityscapes to ACDC improve segmentation on ACDC,
and which weather conditions benefit most or remain hardest?"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4F8A"/>
                </a:solidFill>
                <a:latin typeface="Calibri"/>
              </a:rPr>
              <a:t>The Two-Step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2194560" cy="1371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GTA5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9BE8"/>
                </a:solidFill>
                <a:latin typeface="Calibri"/>
              </a:rPr>
              <a:t>24,966 labeled
synthetic pairs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834640"/>
            <a:ext cx="2286000" cy="82296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
GTA5 → 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06040"/>
            <a:ext cx="2194560" cy="1371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606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Cityscapes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918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9BE8"/>
                </a:solidFill>
                <a:latin typeface="Calibri"/>
              </a:rPr>
              <a:t>2,975 labeled
real 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834640"/>
            <a:ext cx="2286000" cy="822960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2
CS → ACDC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80" y="2606040"/>
            <a:ext cx="2194560" cy="1371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2606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32918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9BE8"/>
                </a:solidFill>
                <a:latin typeface="Calibri"/>
              </a:rPr>
              <a:t>400 unlabeled
per 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60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F8A"/>
                </a:solidFill>
                <a:latin typeface="Calibri"/>
              </a:rPr>
              <a:t>Key design insight: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805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The GTA5→ACDC gap is too large for one step. Factoring it into two smaller hops lets each step exploit a clear intermediate signal. Step 2 also uses Cityscapes ground-truth labels as a supervised source — free supervision that a direct single-step approach would lack.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9BE8"/>
                </a:solidFill>
                <a:latin typeface="Calibri"/>
              </a:rPr>
              <a:t>SegFormer-B2 + Mean Teacher pseudo-labeling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SegFormer-B2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~25M parameters, Mix Transformer (MiT) encoder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No positional encoding → robust to geometric distortions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Multi-scale features: strides {4,8,16,32}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Fits 20 GB VRAM at batch size 2 per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AdamW, lr=6×10⁻⁵, polynomial decay, bfloat16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Pseudo-label threshold τ=0.9 (both steps)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EMA decay 0.9999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5760720" cy="512064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F8A"/>
                </a:solidFill>
                <a:latin typeface="Calibri"/>
              </a:rPr>
              <a:t>Mean Teacher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394960" cy="5943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91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Labeled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9BE8"/>
                </a:solidFill>
                <a:latin typeface="Calibri"/>
              </a:rPr>
              <a:t>GTA5 (Step 1) or Cityscapes (Step 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468880"/>
            <a:ext cx="5394960" cy="5943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468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9BE8"/>
                </a:solidFill>
                <a:latin typeface="Calibri"/>
              </a:rPr>
              <a:t>Trained on source labels + target pseudo-labels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246120"/>
            <a:ext cx="5394960" cy="5943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246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Teacher (EMA)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46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9BE8"/>
                </a:solidFill>
                <a:latin typeface="Calibri"/>
              </a:rPr>
              <a:t>Exponential moving avg of student weights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39496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023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Pseudo-labels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23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9BE8"/>
                </a:solidFill>
                <a:latin typeface="Calibri"/>
              </a:rPr>
              <a:t>Teacher predictions on unlabeled target
(confidence ≥ τ = 0.9 only)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9BE8"/>
                </a:solidFill>
                <a:latin typeface="Calibri"/>
              </a:rPr>
              <a:t>Two runs — both confirm Step 2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8A"/>
                </a:solidFill>
                <a:latin typeface="Calibri"/>
              </a:rPr>
              <a:t>Partial-data run  (Step 1: 30.30% CS val)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55448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938528" y="1417320"/>
            <a:ext cx="77724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14173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Overall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4056" y="1417320"/>
            <a:ext cx="658368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34056" y="14173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1417320"/>
            <a:ext cx="658368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4173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7368" y="1417320"/>
            <a:ext cx="658368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14173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Snow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4024" y="1417320"/>
            <a:ext cx="658368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14173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01368"/>
            <a:ext cx="1554480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8013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Before Step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38528" y="1801368"/>
            <a:ext cx="777240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38528" y="18013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27.20%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34056" y="1801368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34056" y="18013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33.4%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10712" y="1801368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0712" y="18013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30.7%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7368" y="1801368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7368" y="18013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29.4%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64024" y="1801368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4024" y="18013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11.5%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185416"/>
            <a:ext cx="1554480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18541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After Step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38528" y="2185416"/>
            <a:ext cx="777240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38528" y="218541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32.72%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34056" y="2185416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34056" y="2185416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45.7%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10712" y="2185416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10712" y="2185416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40.1%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87368" y="2185416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87368" y="2185416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38.0%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64024" y="2185416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64024" y="2185416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8.4%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569464"/>
            <a:ext cx="1554480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25694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Δ (partial)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38528" y="2569464"/>
            <a:ext cx="777240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38528" y="2569464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+5.52 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34056" y="2569464"/>
            <a:ext cx="658368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34056" y="256946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+12.3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10712" y="2569464"/>
            <a:ext cx="658368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10712" y="256946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+9.4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7368" y="2569464"/>
            <a:ext cx="658368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87368" y="256946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+8.6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64024" y="2569464"/>
            <a:ext cx="658368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64024" y="256946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Calibri"/>
              </a:rPr>
              <a:t>−3.1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1546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8A"/>
                </a:solidFill>
                <a:latin typeface="Calibri"/>
              </a:rPr>
              <a:t>Full-data run  (Step 1: 38.90% CS val)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474720"/>
            <a:ext cx="155448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1938528" y="3474720"/>
            <a:ext cx="77724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38528" y="34747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Overall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34056" y="3474720"/>
            <a:ext cx="658368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34056" y="34747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10712" y="3474720"/>
            <a:ext cx="658368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10712" y="34747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87368" y="3474720"/>
            <a:ext cx="658368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87368" y="34747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Snow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64024" y="3474720"/>
            <a:ext cx="658368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64024" y="34747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Night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858768"/>
            <a:ext cx="1554480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38587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Before Step 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38528" y="3858768"/>
            <a:ext cx="777240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38528" y="38587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32.07%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34056" y="3858768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34056" y="38587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40.54%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10712" y="3858768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10712" y="38587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35.89%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87368" y="3858768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87368" y="38587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33.38%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64024" y="3858768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64024" y="38587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15.02%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242816"/>
            <a:ext cx="1554480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24281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After Step 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38528" y="4242816"/>
            <a:ext cx="777240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38528" y="424281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38.18%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34056" y="4242816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34056" y="4242816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49.08%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10712" y="4242816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410712" y="4242816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42.71%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87368" y="4242816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087368" y="4242816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40.54%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64024" y="4242816"/>
            <a:ext cx="658368" cy="3657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64024" y="4242816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16.77%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4626864"/>
            <a:ext cx="1554480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5760" y="46268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Δ (full-data)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38528" y="4626864"/>
            <a:ext cx="777240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38528" y="4626864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+6.11 pp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34056" y="4626864"/>
            <a:ext cx="658368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34056" y="462686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+8.54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10712" y="4626864"/>
            <a:ext cx="658368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410712" y="462686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+6.83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087368" y="4626864"/>
            <a:ext cx="658368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087368" y="462686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+7.16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64024" y="4626864"/>
            <a:ext cx="658368" cy="365760"/>
          </a:xfrm>
          <a:prstGeom prst="rect">
            <a:avLst/>
          </a:prstGeom>
          <a:solidFill>
            <a:srgbClr val="D5E8F5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64024" y="462686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+1.74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35040" y="10972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F8A"/>
                </a:solidFill>
                <a:latin typeface="Calibri"/>
              </a:rPr>
              <a:t>Key takeaways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35040" y="146304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Step 2 always helps — +5.5 to +6.1 pp overall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Fog benefits most in both runs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Full-data run: every condition improves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Night: regresses in partial, improves in full-data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Full-data fog crosses 49% — approaching supervised range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297680"/>
            <a:ext cx="5760720" cy="173736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17920" y="4389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8A"/>
                </a:solidFill>
                <a:latin typeface="Calibri"/>
              </a:rPr>
              <a:t>Absolute mIoU context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17920" y="470916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Numbers reflect fully unsupervised adaptation — zero ACDC labels at any stage. The scientific contribution is the delta, not the absolute level. Night suppresses the overall average; fog/rain/snow alone reach 40–49%.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Per-Condition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9BE8"/>
                </a:solidFill>
                <a:latin typeface="Calibri"/>
              </a:rPr>
              <a:t>Before vs. After Step 2 — partial-data B2 pipeline</a:t>
            </a:r>
          </a:p>
        </p:txBody>
      </p:sp>
      <p:pic>
        <p:nvPicPr>
          <p:cNvPr id="5" name="Picture 4" descr="fig_before_after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2 Adaptation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9BE8"/>
                </a:solidFill>
                <a:latin typeface="Calibri"/>
              </a:rPr>
              <a:t>Per-condition mIoU over training — partial-data run</a:t>
            </a:r>
          </a:p>
        </p:txBody>
      </p:sp>
      <p:pic>
        <p:nvPicPr>
          <p:cNvPr id="5" name="Picture 4" descr="fig_step2_adapt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918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Finding: The Natural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9BE8"/>
                </a:solidFill>
                <a:latin typeface="Calibri"/>
              </a:rPr>
              <a:t>One variable changed — night flips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A4F8A"/>
                </a:solidFill>
                <a:latin typeface="Calibri"/>
              </a:rPr>
              <a:t>The two runs are identical except for Step 1 dataset size. Everything else — backbone, training procedure, Step 2 config — is the same.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5486400" cy="429768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Partial-data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Step 1: 30.30% CS val
(~10K GTA5 pairs)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Night Before: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23C"/>
                </a:solidFill>
                <a:latin typeface="Calibri"/>
              </a:rPr>
              <a:t>11.5%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Night After: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23C"/>
                </a:solidFill>
                <a:latin typeface="Calibri"/>
              </a:rPr>
              <a:t>8.4%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23360"/>
            <a:ext cx="502920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−3.1 pp 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00" cy="429768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F8A"/>
                </a:solidFill>
                <a:latin typeface="Calibri"/>
              </a:rPr>
              <a:t>Full-data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97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Step 1: 38.90% CS val
(24,966 GTA5 pairs)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Night Before: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23C"/>
                </a:solidFill>
                <a:latin typeface="Calibri"/>
              </a:rPr>
              <a:t>15.02%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Night After: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23C"/>
                </a:solidFill>
                <a:latin typeface="Calibri"/>
              </a:rPr>
              <a:t>16.77%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023360"/>
            <a:ext cx="502920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7AE60"/>
                </a:solidFill>
                <a:latin typeface="Calibri"/>
              </a:rPr>
              <a:t>+1.74 pp  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4F8A"/>
                </a:solidFill>
                <a:latin typeface="Calibri"/>
              </a:rPr>
              <a:t>→  Step 1 quality is the causal mechanism for night adaptation, not the method itself.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Broader Applicability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9BE8"/>
                </a:solidFill>
                <a:latin typeface="Calibri"/>
              </a:rPr>
              <a:t>The principle extends beyond autonomous driving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Two-step UDA applies whenever a large domain gap can be factored through a labeled intermediate domain: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468880" cy="25603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Autonomous
Driving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9BE8"/>
                </a:solidFill>
                <a:latin typeface="Calibri"/>
              </a:rPr>
              <a:t>Synthetic game data
→ Clean real scenes
→ Adverse weather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2468880" cy="25603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Medical
Imaging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231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9BE8"/>
                </a:solidFill>
                <a:latin typeface="Calibri"/>
              </a:rPr>
              <a:t>Synthetic scans
→ One scanner type
→ Noisier scanner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691640"/>
            <a:ext cx="2468880" cy="25603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Satellite
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231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9BE8"/>
                </a:solidFill>
                <a:latin typeface="Calibri"/>
              </a:rPr>
              <a:t>One season/region
→ Intermediate domain
→ Target region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691640"/>
            <a:ext cx="2468880" cy="25603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Outdoor
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4231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9BE8"/>
                </a:solidFill>
                <a:latin typeface="Calibri"/>
              </a:rPr>
              <a:t>Simulation
→ Controlled env
→ Unstructured env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40"/>
            <a:ext cx="11430000" cy="1371600"/>
          </a:xfrm>
          <a:prstGeom prst="rect">
            <a:avLst/>
          </a:prstGeom>
          <a:solidFill>
            <a:srgbClr val="EEF4FB"/>
          </a:solidFill>
          <a:ln w="1270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F8A"/>
                </a:solidFill>
                <a:latin typeface="Calibri"/>
              </a:rPr>
              <a:t>Structural requirement for two-step UDA: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Labeled synthetic source  ·  Accessible labeled intermediate domain  ·  Hard unlabeled final target
Where the direct source→target gap is too large to bridge in one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Step 2 consistently improves ACDC segmentation — +5.52 pp (partial) and +6.11 pp (full-data)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Fog benefits most; rain and snow improve substantially; night is the hardest condition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Full-data run: every condition improves, including night (+1.74 pp)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Natural experiment: the two runs isolate Step 1 quality as the causal mechanism for night behavior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Night regression is NOT a fundamental limitation — it is a consequence of a weak Step 1 model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Sequential UDA factorizes hard domain gaps; Step 1 quality is the primary design lever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Principle generalises beyond autonomous driving to any multi-hop domain adaptation setting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C9BE8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C9BE8"/>
                </a:solidFill>
                <a:latin typeface="Calibri"/>
              </a:rPr>
              <a:t>github.com/galbe/weather-uda-segformer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